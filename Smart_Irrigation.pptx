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1"/>
  </p:sldMasterIdLst>
  <p:sldIdLst>
    <p:sldId id="256" r:id="rId2"/>
    <p:sldId id="257" r:id="rId3"/>
    <p:sldId id="258" r:id="rId4"/>
    <p:sldId id="259" r:id="rId5"/>
    <p:sldId id="260" r:id="rId6"/>
    <p:sldId id="261" r:id="rId7"/>
    <p:sldId id="263" r:id="rId8"/>
    <p:sldId id="262" r:id="rId9"/>
    <p:sldId id="264"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p15:clr>
            <a:srgbClr val="A4A3A4"/>
          </p15:clr>
        </p15:guide>
        <p15:guide id="2" pos="192">
          <p15:clr>
            <a:srgbClr val="A4A3A4"/>
          </p15:clr>
        </p15:guide>
        <p15:guide id="3" orient="horz" pos="1080">
          <p15:clr>
            <a:srgbClr val="A4A3A4"/>
          </p15:clr>
        </p15:guide>
      </p15:sldGuideLst>
    </p:ext>
    <p:ext uri="http://customooxmlschemas.google.com/">
      <go:slidesCustomData xmlns=""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2" d="100"/>
          <a:sy n="82" d="100"/>
        </p:scale>
        <p:origin x="720" y="72"/>
      </p:cViewPr>
      <p:guideLst>
        <p:guide orient="horz" pos="792"/>
        <p:guide pos="192"/>
        <p:guide orient="horz" pos="10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22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22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20" Type="http://customschemas.google.com/relationships/presentationmetadata" Target="metadata"/><Relationship Id="rId5" Type="http://schemas.openxmlformats.org/officeDocument/2006/relationships/slide" Target="slides/slide4.xml"/><Relationship Id="rId10" Type="http://schemas.openxmlformats.org/officeDocument/2006/relationships/slide" Target="slides/slide9.xml"/><Relationship Id="rId22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23"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341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2.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p:nvPicPr>
        <p:blipFill rotWithShape="1">
          <a:blip r:embed="rId6">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p:nvPicPr>
        <p:blipFill rotWithShape="1">
          <a:blip r:embed="rId7">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687" r:id="rId1"/>
    <p:sldLayoutId id="2147483701" r:id="rId2"/>
    <p:sldLayoutId id="2147483714" r:id="rId3"/>
    <p:sldLayoutId id="2147483727" r:id="rId4"/>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freepik.com/"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keerthibandari167/smart-irrigation-internship"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person sitting at a desk with a computer&#10;&#10;Description automatically generated">
            <a:extLst>
              <a:ext uri="{FF2B5EF4-FFF2-40B4-BE49-F238E27FC236}">
                <a16:creationId xmlns:a16="http://schemas.microsoft.com/office/drawing/2014/main" id="{07B8740D-C76F-46FC-AEFB-23FB0614DB0C}"/>
              </a:ext>
            </a:extLst>
          </p:cNvPr>
          <p:cNvPicPr>
            <a:picLocks noChangeAspect="1"/>
          </p:cNvPicPr>
          <p:nvPr/>
        </p:nvPicPr>
        <p:blipFill>
          <a:blip r:embed="rId2"/>
          <a:stretch>
            <a:fillRect/>
          </a:stretch>
        </p:blipFill>
        <p:spPr>
          <a:xfrm>
            <a:off x="-531845" y="0"/>
            <a:ext cx="12192000" cy="6858000"/>
          </a:xfrm>
          <a:prstGeom prst="rect">
            <a:avLst/>
          </a:prstGeom>
        </p:spPr>
      </p:pic>
      <p:sp>
        <p:nvSpPr>
          <p:cNvPr id="4" name="Rectangle: Rounded Corners 3">
            <a:extLst>
              <a:ext uri="{FF2B5EF4-FFF2-40B4-BE49-F238E27FC236}">
                <a16:creationId xmlns:a16="http://schemas.microsoft.com/office/drawing/2014/main" id="{C1857762-AD52-483C-B3E1-635C5BBC6F2F}"/>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5067E9C-C7B9-4476-9708-CBB3F66FD892}"/>
              </a:ext>
            </a:extLst>
          </p:cNvPr>
          <p:cNvSpPr txBox="1"/>
          <p:nvPr/>
        </p:nvSpPr>
        <p:spPr>
          <a:xfrm>
            <a:off x="4338735" y="2994953"/>
            <a:ext cx="6428791" cy="1077218"/>
          </a:xfrm>
          <a:prstGeom prst="rect">
            <a:avLst/>
          </a:prstGeom>
          <a:noFill/>
        </p:spPr>
        <p:txBody>
          <a:bodyPr wrap="square" rtlCol="0">
            <a:spAutoFit/>
          </a:bodyPr>
          <a:lstStyle/>
          <a:p>
            <a:pPr algn="r"/>
            <a:r>
              <a:rPr lang="en-US" sz="3200" dirty="0">
                <a:solidFill>
                  <a:schemeClr val="bg1">
                    <a:lumMod val="95000"/>
                  </a:schemeClr>
                </a:solidFill>
                <a:latin typeface="+mj-lt"/>
                <a:cs typeface="Times New Roman" panose="02020603050405020304" pitchFamily="18" charset="0"/>
              </a:rPr>
              <a:t>SMART IRRIGATION SYSTEM USING MACHINE LEARNING</a:t>
            </a:r>
            <a:endParaRPr lang="en-US" sz="3200" b="1" dirty="0">
              <a:solidFill>
                <a:schemeClr val="bg1">
                  <a:lumMod val="95000"/>
                </a:schemeClr>
              </a:solidFill>
              <a:latin typeface="+mj-lt"/>
              <a:cs typeface="Times New Roman" panose="02020603050405020304" pitchFamily="18" charset="0"/>
            </a:endParaRPr>
          </a:p>
        </p:txBody>
      </p:sp>
      <p:grpSp>
        <p:nvGrpSpPr>
          <p:cNvPr id="6" name="Group 5">
            <a:extLst>
              <a:ext uri="{FF2B5EF4-FFF2-40B4-BE49-F238E27FC236}">
                <a16:creationId xmlns:a16="http://schemas.microsoft.com/office/drawing/2014/main" id="{D7224A59-2417-428A-A991-E468431BB817}"/>
              </a:ext>
            </a:extLst>
          </p:cNvPr>
          <p:cNvGrpSpPr/>
          <p:nvPr/>
        </p:nvGrpSpPr>
        <p:grpSpPr>
          <a:xfrm>
            <a:off x="6890523" y="742091"/>
            <a:ext cx="2640053" cy="664378"/>
            <a:chOff x="2375536" y="1112060"/>
            <a:chExt cx="3292636" cy="828603"/>
          </a:xfrm>
        </p:grpSpPr>
        <p:pic>
          <p:nvPicPr>
            <p:cNvPr id="7" name="Picture 6" descr="A close up of a logo&#10;&#10;Description automatically generated">
              <a:extLst>
                <a:ext uri="{FF2B5EF4-FFF2-40B4-BE49-F238E27FC236}">
                  <a16:creationId xmlns:a16="http://schemas.microsoft.com/office/drawing/2014/main" id="{BD3530AF-9771-470E-A9BF-F28AA22753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92781" y="1270168"/>
              <a:ext cx="1575391" cy="512386"/>
            </a:xfrm>
            <a:prstGeom prst="rect">
              <a:avLst/>
            </a:prstGeom>
          </p:spPr>
        </p:pic>
        <p:pic>
          <p:nvPicPr>
            <p:cNvPr id="8" name="Picture 7" descr="A yellow and red shell logo&#10;&#10;Description automatically generated">
              <a:extLst>
                <a:ext uri="{FF2B5EF4-FFF2-40B4-BE49-F238E27FC236}">
                  <a16:creationId xmlns:a16="http://schemas.microsoft.com/office/drawing/2014/main" id="{75E6A819-9F3F-4787-A707-A7415C302BFA}"/>
                </a:ext>
              </a:extLst>
            </p:cNvPr>
            <p:cNvPicPr>
              <a:picLocks noChangeAspect="1"/>
            </p:cNvPicPr>
            <p:nvPr/>
          </p:nvPicPr>
          <p:blipFill>
            <a:blip r:embed="rId4"/>
            <a:stretch>
              <a:fillRect/>
            </a:stretch>
          </p:blipFill>
          <p:spPr>
            <a:xfrm>
              <a:off x="2375536" y="1112060"/>
              <a:ext cx="985475" cy="828603"/>
            </a:xfrm>
            <a:prstGeom prst="rect">
              <a:avLst/>
            </a:prstGeom>
          </p:spPr>
        </p:pic>
      </p:grpSp>
      <p:sp>
        <p:nvSpPr>
          <p:cNvPr id="3" name="TextBox 2">
            <a:extLst>
              <a:ext uri="{FF2B5EF4-FFF2-40B4-BE49-F238E27FC236}">
                <a16:creationId xmlns:a16="http://schemas.microsoft.com/office/drawing/2014/main" id="{3D5CF2BD-F682-F764-F4C1-AFADCD29DA0D}"/>
              </a:ext>
            </a:extLst>
          </p:cNvPr>
          <p:cNvSpPr txBox="1"/>
          <p:nvPr/>
        </p:nvSpPr>
        <p:spPr>
          <a:xfrm>
            <a:off x="5467739" y="4432041"/>
            <a:ext cx="4637314" cy="954300"/>
          </a:xfrm>
          <a:prstGeom prst="rect">
            <a:avLst/>
          </a:prstGeom>
          <a:noFill/>
        </p:spPr>
        <p:txBody>
          <a:bodyPr wrap="square" rtlCol="0">
            <a:spAutoFit/>
          </a:bodyPr>
          <a:lstStyle/>
          <a:p>
            <a:r>
              <a:rPr lang="en-US" dirty="0">
                <a:solidFill>
                  <a:schemeClr val="bg1">
                    <a:lumMod val="95000"/>
                  </a:schemeClr>
                </a:solidFill>
              </a:rPr>
              <a:t>Presented by:</a:t>
            </a:r>
          </a:p>
          <a:p>
            <a:r>
              <a:rPr lang="en-US" dirty="0">
                <a:solidFill>
                  <a:schemeClr val="bg1">
                    <a:lumMod val="95000"/>
                  </a:schemeClr>
                </a:solidFill>
              </a:rPr>
              <a:t>B. Keerthi – Malla Reddy Engineering College For Women</a:t>
            </a:r>
            <a:endParaRPr lang="en-IN" dirty="0">
              <a:solidFill>
                <a:schemeClr val="bg1">
                  <a:lumMod val="95000"/>
                </a:schemeClr>
              </a:solidFill>
            </a:endParaRPr>
          </a:p>
        </p:txBody>
      </p:sp>
    </p:spTree>
    <p:extLst>
      <p:ext uri="{BB962C8B-B14F-4D97-AF65-F5344CB8AC3E}">
        <p14:creationId xmlns:p14="http://schemas.microsoft.com/office/powerpoint/2010/main" val="367127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94E319-C77C-49E2-964C-6E125D716194}"/>
              </a:ext>
            </a:extLst>
          </p:cNvPr>
          <p:cNvSpPr txBox="1"/>
          <p:nvPr/>
        </p:nvSpPr>
        <p:spPr>
          <a:xfrm>
            <a:off x="191911" y="972537"/>
            <a:ext cx="3185771" cy="400110"/>
          </a:xfrm>
          <a:prstGeom prst="rect">
            <a:avLst/>
          </a:prstGeom>
          <a:noFill/>
        </p:spPr>
        <p:txBody>
          <a:bodyPr wrap="square">
            <a:spAutoFit/>
          </a:bodyPr>
          <a:lstStyle/>
          <a:p>
            <a:r>
              <a:rPr lang="en-IN" sz="2000" b="1" dirty="0">
                <a:solidFill>
                  <a:srgbClr val="213163"/>
                </a:solidFill>
                <a:latin typeface="+mj-lt"/>
                <a:cs typeface="Times New Roman" panose="02020603050405020304" pitchFamily="18" charset="0"/>
              </a:rPr>
              <a:t>Learning Objectives</a:t>
            </a:r>
            <a:endParaRPr lang="en-IN" sz="2000" dirty="0">
              <a:solidFill>
                <a:srgbClr val="213163"/>
              </a:solidFill>
              <a:latin typeface="+mj-lt"/>
              <a:cs typeface="Times New Roman" panose="02020603050405020304" pitchFamily="18" charset="0"/>
            </a:endParaRPr>
          </a:p>
        </p:txBody>
      </p:sp>
      <p:sp>
        <p:nvSpPr>
          <p:cNvPr id="3" name="TextBox 2">
            <a:extLst>
              <a:ext uri="{FF2B5EF4-FFF2-40B4-BE49-F238E27FC236}">
                <a16:creationId xmlns:a16="http://schemas.microsoft.com/office/drawing/2014/main" id="{8E1F3497-5370-4874-9908-5AD45214E10B}"/>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4" name="TextBox 3">
            <a:extLst>
              <a:ext uri="{FF2B5EF4-FFF2-40B4-BE49-F238E27FC236}">
                <a16:creationId xmlns:a16="http://schemas.microsoft.com/office/drawing/2014/main" id="{ECE830DD-8813-42EB-B27B-B7D85423D0C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2">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5" name="Straight Connector 4">
            <a:extLst>
              <a:ext uri="{FF2B5EF4-FFF2-40B4-BE49-F238E27FC236}">
                <a16:creationId xmlns:a16="http://schemas.microsoft.com/office/drawing/2014/main" id="{CA22F707-7F22-48A3-97EC-98EFB1023A55}"/>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6" name="Picture 5" descr="A ladder leading to a large yellow circle&#10;&#10;Description automatically generated">
            <a:extLst>
              <a:ext uri="{FF2B5EF4-FFF2-40B4-BE49-F238E27FC236}">
                <a16:creationId xmlns:a16="http://schemas.microsoft.com/office/drawing/2014/main" id="{E2920B14-B344-4926-9729-BC7EBD91FF9A}"/>
              </a:ext>
            </a:extLst>
          </p:cNvPr>
          <p:cNvPicPr>
            <a:picLocks noChangeAspect="1"/>
          </p:cNvPicPr>
          <p:nvPr/>
        </p:nvPicPr>
        <p:blipFill rotWithShape="1">
          <a:blip r:embed="rId3">
            <a:alphaModFix amt="85000"/>
          </a:blip>
          <a:srcRect l="13763" t="6135" r="13650"/>
          <a:stretch/>
        </p:blipFill>
        <p:spPr>
          <a:xfrm>
            <a:off x="7417836" y="1442720"/>
            <a:ext cx="4428724" cy="4632960"/>
          </a:xfrm>
          <a:prstGeom prst="rect">
            <a:avLst/>
          </a:prstGeom>
        </p:spPr>
      </p:pic>
      <p:sp>
        <p:nvSpPr>
          <p:cNvPr id="7" name="TextBox 6">
            <a:extLst>
              <a:ext uri="{FF2B5EF4-FFF2-40B4-BE49-F238E27FC236}">
                <a16:creationId xmlns:a16="http://schemas.microsoft.com/office/drawing/2014/main" id="{6C264928-EACB-4739-BDDA-6799C99356F3}"/>
              </a:ext>
            </a:extLst>
          </p:cNvPr>
          <p:cNvSpPr txBox="1"/>
          <p:nvPr/>
        </p:nvSpPr>
        <p:spPr>
          <a:xfrm>
            <a:off x="8839200" y="3168609"/>
            <a:ext cx="1503681" cy="630942"/>
          </a:xfrm>
          <a:prstGeom prst="rect">
            <a:avLst/>
          </a:prstGeom>
          <a:noFill/>
        </p:spPr>
        <p:txBody>
          <a:bodyPr wrap="square" rtlCol="0">
            <a:spAutoFit/>
          </a:bodyPr>
          <a:lstStyle/>
          <a:p>
            <a:pPr>
              <a:spcAft>
                <a:spcPts val="800"/>
              </a:spcAft>
            </a:pPr>
            <a:r>
              <a:rPr lang="en-IN" sz="3500" b="1" dirty="0">
                <a:solidFill>
                  <a:schemeClr val="tx1"/>
                </a:solidFill>
                <a:latin typeface="+mn-lt"/>
              </a:rPr>
              <a:t>GOAL</a:t>
            </a:r>
          </a:p>
        </p:txBody>
      </p:sp>
      <p:sp>
        <p:nvSpPr>
          <p:cNvPr id="12" name="Rectangle 3">
            <a:extLst>
              <a:ext uri="{FF2B5EF4-FFF2-40B4-BE49-F238E27FC236}">
                <a16:creationId xmlns:a16="http://schemas.microsoft.com/office/drawing/2014/main" id="{FF77AC5D-60F9-0221-8F61-49F6D458A5E1}"/>
              </a:ext>
            </a:extLst>
          </p:cNvPr>
          <p:cNvSpPr>
            <a:spLocks noChangeArrowheads="1"/>
          </p:cNvSpPr>
          <p:nvPr/>
        </p:nvSpPr>
        <p:spPr bwMode="auto">
          <a:xfrm>
            <a:off x="336235" y="1968022"/>
            <a:ext cx="7081601"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0" i="0" u="none" strike="noStrike" cap="none" normalizeH="0" baseline="0" dirty="0">
                <a:ln>
                  <a:noFill/>
                </a:ln>
                <a:solidFill>
                  <a:schemeClr val="tx1"/>
                </a:solidFill>
                <a:effectLst/>
                <a:latin typeface="+mj-lt"/>
              </a:rPr>
              <a:t> </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Understand the concept of smart irrigation systems.</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Learn how to use sensor data to predict irrigation needs.</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Apply machine learning algorithms for prediction.</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Visualize and analyze pump activity and parcel usage.</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Develop a basic irrigation model using Python and Scikit-learn.</a:t>
            </a:r>
          </a:p>
        </p:txBody>
      </p:sp>
    </p:spTree>
    <p:extLst>
      <p:ext uri="{BB962C8B-B14F-4D97-AF65-F5344CB8AC3E}">
        <p14:creationId xmlns:p14="http://schemas.microsoft.com/office/powerpoint/2010/main" val="2932052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135834" y="1067664"/>
            <a:ext cx="6102626" cy="461665"/>
          </a:xfrm>
          <a:prstGeom prst="rect">
            <a:avLst/>
          </a:prstGeom>
          <a:noFill/>
        </p:spPr>
        <p:txBody>
          <a:bodyPr wrap="square">
            <a:spAutoFit/>
          </a:bodyPr>
          <a:lstStyle/>
          <a:p>
            <a:r>
              <a:rPr lang="en-US" sz="2000" b="1" dirty="0">
                <a:solidFill>
                  <a:srgbClr val="213163"/>
                </a:solidFill>
                <a:latin typeface="+mj-lt"/>
                <a:cs typeface="Times New Roman" panose="02020603050405020304" pitchFamily="18" charset="0"/>
              </a:rPr>
              <a:t>T</a:t>
            </a:r>
            <a:r>
              <a:rPr lang="en-IN" sz="2000" b="1" dirty="0" err="1">
                <a:solidFill>
                  <a:srgbClr val="213163"/>
                </a:solidFill>
                <a:latin typeface="+mj-lt"/>
                <a:cs typeface="Times New Roman" panose="02020603050405020304" pitchFamily="18" charset="0"/>
              </a:rPr>
              <a:t>ools</a:t>
            </a:r>
            <a:r>
              <a:rPr lang="en-IN" sz="2000" b="1" dirty="0">
                <a:solidFill>
                  <a:srgbClr val="213163"/>
                </a:solidFill>
                <a:latin typeface="+mj-lt"/>
                <a:cs typeface="Times New Roman" panose="02020603050405020304" pitchFamily="18" charset="0"/>
              </a:rPr>
              <a:t> and Technology used</a:t>
            </a:r>
            <a:r>
              <a:rPr lang="en-IN" sz="2400" b="1" dirty="0">
                <a:solidFill>
                  <a:srgbClr val="213163"/>
                </a:solidFill>
                <a:latin typeface="Times New Roman" panose="02020603050405020304" pitchFamily="18" charset="0"/>
                <a:cs typeface="Times New Roman" panose="02020603050405020304" pitchFamily="18" charset="0"/>
              </a:rPr>
              <a:t> </a:t>
            </a:r>
          </a:p>
        </p:txBody>
      </p:sp>
      <p:sp>
        <p:nvSpPr>
          <p:cNvPr id="4" name="Rectangle 1">
            <a:extLst>
              <a:ext uri="{FF2B5EF4-FFF2-40B4-BE49-F238E27FC236}">
                <a16:creationId xmlns:a16="http://schemas.microsoft.com/office/drawing/2014/main" id="{6F04F5AA-FB90-F35A-8122-675EDCCA999C}"/>
              </a:ext>
            </a:extLst>
          </p:cNvPr>
          <p:cNvSpPr>
            <a:spLocks noChangeArrowheads="1"/>
          </p:cNvSpPr>
          <p:nvPr/>
        </p:nvSpPr>
        <p:spPr bwMode="auto">
          <a:xfrm>
            <a:off x="313014" y="2303466"/>
            <a:ext cx="12056166"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Python</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 Programming language for data analysis and machine learning</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 Pandas</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 For data manipulation and preprocessing</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 Matplotlib</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 For data visualization</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 Scikit-learn (</a:t>
            </a:r>
            <a:r>
              <a:rPr kumimoji="0" lang="en-US" altLang="en-US" sz="1400" b="1" i="0" u="none" strike="noStrike" cap="none" normalizeH="0" baseline="0" dirty="0" err="1">
                <a:ln>
                  <a:noFill/>
                </a:ln>
                <a:solidFill>
                  <a:schemeClr val="tx1"/>
                </a:solidFill>
                <a:effectLst/>
                <a:latin typeface="+mj-lt"/>
                <a:cs typeface="Times New Roman" panose="02020603050405020304" pitchFamily="18" charset="0"/>
              </a:rPr>
              <a:t>sklearn</a:t>
            </a: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 For building the machine learning model</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 </a:t>
            </a:r>
            <a:r>
              <a:rPr kumimoji="0" lang="en-US" altLang="en-US" sz="1400" b="1" i="0" u="none" strike="noStrike" cap="none" normalizeH="0" baseline="0" dirty="0" err="1">
                <a:ln>
                  <a:noFill/>
                </a:ln>
                <a:solidFill>
                  <a:schemeClr val="tx1"/>
                </a:solidFill>
                <a:effectLst/>
                <a:latin typeface="+mj-lt"/>
                <a:cs typeface="Times New Roman" panose="02020603050405020304" pitchFamily="18" charset="0"/>
              </a:rPr>
              <a:t>Jupyter</a:t>
            </a: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 Notebook</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 For writing and testing Python code</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mj-lt"/>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mj-lt"/>
                <a:cs typeface="Times New Roman" panose="02020603050405020304" pitchFamily="18" charset="0"/>
              </a:rPr>
              <a:t> GitHub</a:t>
            </a:r>
            <a:r>
              <a:rPr kumimoji="0" lang="en-US" altLang="en-US" sz="1400" b="0" i="0" u="none" strike="noStrike" cap="none" normalizeH="0" baseline="0" dirty="0">
                <a:ln>
                  <a:noFill/>
                </a:ln>
                <a:solidFill>
                  <a:schemeClr val="tx1"/>
                </a:solidFill>
                <a:effectLst/>
                <a:latin typeface="+mj-lt"/>
                <a:cs typeface="Times New Roman" panose="02020603050405020304" pitchFamily="18" charset="0"/>
              </a:rPr>
              <a:t> – For version control and project submission</a:t>
            </a:r>
          </a:p>
        </p:txBody>
      </p:sp>
    </p:spTree>
    <p:extLst>
      <p:ext uri="{BB962C8B-B14F-4D97-AF65-F5344CB8AC3E}">
        <p14:creationId xmlns:p14="http://schemas.microsoft.com/office/powerpoint/2010/main" val="564571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268356" y="1014656"/>
            <a:ext cx="6102626" cy="400110"/>
          </a:xfrm>
          <a:prstGeom prst="rect">
            <a:avLst/>
          </a:prstGeom>
          <a:noFill/>
        </p:spPr>
        <p:txBody>
          <a:bodyPr wrap="square">
            <a:spAutoFit/>
          </a:bodyPr>
          <a:lstStyle/>
          <a:p>
            <a:r>
              <a:rPr lang="en-US" sz="2000" b="1" dirty="0">
                <a:solidFill>
                  <a:srgbClr val="213163"/>
                </a:solidFill>
                <a:latin typeface="+mj-lt"/>
                <a:cs typeface="Times New Roman" panose="02020603050405020304" pitchFamily="18" charset="0"/>
              </a:rPr>
              <a:t>Methodology</a:t>
            </a:r>
            <a:r>
              <a:rPr lang="en-US" sz="1800" b="1" dirty="0">
                <a:solidFill>
                  <a:srgbClr val="213163"/>
                </a:solidFill>
              </a:rPr>
              <a:t> </a:t>
            </a:r>
            <a:endParaRPr lang="en-IN" sz="1800" dirty="0">
              <a:solidFill>
                <a:srgbClr val="213163"/>
              </a:solidFill>
            </a:endParaRPr>
          </a:p>
        </p:txBody>
      </p:sp>
      <p:sp>
        <p:nvSpPr>
          <p:cNvPr id="2" name="TextBox 1">
            <a:extLst>
              <a:ext uri="{FF2B5EF4-FFF2-40B4-BE49-F238E27FC236}">
                <a16:creationId xmlns:a16="http://schemas.microsoft.com/office/drawing/2014/main" id="{B68017D8-5AAE-2344-6236-D8F656994424}"/>
              </a:ext>
            </a:extLst>
          </p:cNvPr>
          <p:cNvSpPr txBox="1"/>
          <p:nvPr/>
        </p:nvSpPr>
        <p:spPr>
          <a:xfrm>
            <a:off x="438539" y="1735494"/>
            <a:ext cx="10870163" cy="1600438"/>
          </a:xfrm>
          <a:prstGeom prst="rect">
            <a:avLst/>
          </a:prstGeom>
          <a:noFill/>
        </p:spPr>
        <p:txBody>
          <a:bodyPr wrap="square" rtlCol="0">
            <a:spAutoFit/>
          </a:bodyPr>
          <a:lstStyle/>
          <a:p>
            <a:pPr marL="342900" indent="-342900" algn="just">
              <a:buFont typeface="Arial" panose="020B0604020202020204" pitchFamily="34" charset="0"/>
              <a:buChar char="•"/>
            </a:pPr>
            <a:r>
              <a:rPr lang="en-US" sz="1400" dirty="0">
                <a:latin typeface="+mj-lt"/>
                <a:cs typeface="Times New Roman" panose="02020603050405020304" pitchFamily="18" charset="0"/>
              </a:rPr>
              <a:t>Data preprocessing (cleaning, scaling sensor values).</a:t>
            </a:r>
          </a:p>
          <a:p>
            <a:pPr marL="342900" indent="-342900" algn="just">
              <a:buFont typeface="Arial" panose="020B0604020202020204" pitchFamily="34" charset="0"/>
              <a:buChar char="•"/>
            </a:pPr>
            <a:endParaRPr lang="en-US" sz="1400" dirty="0">
              <a:latin typeface="+mj-lt"/>
              <a:cs typeface="Times New Roman" panose="02020603050405020304" pitchFamily="18" charset="0"/>
            </a:endParaRPr>
          </a:p>
          <a:p>
            <a:pPr marL="342900" indent="-342900" algn="just">
              <a:buFont typeface="Arial" panose="020B0604020202020204" pitchFamily="34" charset="0"/>
              <a:buChar char="•"/>
            </a:pPr>
            <a:r>
              <a:rPr lang="en-US" sz="1400" dirty="0">
                <a:latin typeface="+mj-lt"/>
                <a:cs typeface="Times New Roman" panose="02020603050405020304" pitchFamily="18" charset="0"/>
              </a:rPr>
              <a:t>Model training using Random Forest Classifier.</a:t>
            </a:r>
          </a:p>
          <a:p>
            <a:pPr marL="342900" indent="-342900" algn="just">
              <a:buFont typeface="Arial" panose="020B0604020202020204" pitchFamily="34" charset="0"/>
              <a:buChar char="•"/>
            </a:pPr>
            <a:endParaRPr lang="en-US" sz="1400" dirty="0">
              <a:latin typeface="+mj-lt"/>
              <a:cs typeface="Times New Roman" panose="02020603050405020304" pitchFamily="18" charset="0"/>
            </a:endParaRPr>
          </a:p>
          <a:p>
            <a:pPr marL="342900" indent="-342900" algn="just">
              <a:buFont typeface="Arial" panose="020B0604020202020204" pitchFamily="34" charset="0"/>
              <a:buChar char="•"/>
            </a:pPr>
            <a:r>
              <a:rPr lang="en-US" sz="1400" dirty="0">
                <a:latin typeface="+mj-lt"/>
                <a:cs typeface="Times New Roman" panose="02020603050405020304" pitchFamily="18" charset="0"/>
              </a:rPr>
              <a:t>Model evaluation and prediction of sprinkler status.</a:t>
            </a:r>
          </a:p>
          <a:p>
            <a:pPr marL="342900" indent="-342900" algn="just">
              <a:buFont typeface="Arial" panose="020B0604020202020204" pitchFamily="34" charset="0"/>
              <a:buChar char="•"/>
            </a:pPr>
            <a:endParaRPr lang="en-US" sz="1400" dirty="0">
              <a:latin typeface="+mj-lt"/>
              <a:cs typeface="Times New Roman" panose="02020603050405020304" pitchFamily="18" charset="0"/>
            </a:endParaRPr>
          </a:p>
          <a:p>
            <a:pPr marL="342900" indent="-342900" algn="just">
              <a:buFont typeface="Arial" panose="020B0604020202020204" pitchFamily="34" charset="0"/>
              <a:buChar char="•"/>
            </a:pPr>
            <a:r>
              <a:rPr lang="en-US" sz="1400" dirty="0">
                <a:latin typeface="+mj-lt"/>
                <a:cs typeface="Times New Roman" panose="02020603050405020304" pitchFamily="18" charset="0"/>
              </a:rPr>
              <a:t>Deployment using </a:t>
            </a:r>
            <a:r>
              <a:rPr lang="en-US" sz="1400" dirty="0" err="1">
                <a:latin typeface="+mj-lt"/>
                <a:cs typeface="Times New Roman" panose="02020603050405020304" pitchFamily="18" charset="0"/>
              </a:rPr>
              <a:t>Streamlit</a:t>
            </a:r>
            <a:r>
              <a:rPr lang="en-US" sz="1400" dirty="0">
                <a:latin typeface="+mj-lt"/>
                <a:cs typeface="Times New Roman" panose="02020603050405020304" pitchFamily="18" charset="0"/>
              </a:rPr>
              <a:t> for user interaction.</a:t>
            </a:r>
            <a:endParaRPr lang="en-IN" sz="1400" dirty="0">
              <a:latin typeface="+mj-lt"/>
              <a:cs typeface="Times New Roman" panose="02020603050405020304" pitchFamily="18" charset="0"/>
            </a:endParaRPr>
          </a:p>
        </p:txBody>
      </p:sp>
    </p:spTree>
    <p:extLst>
      <p:ext uri="{BB962C8B-B14F-4D97-AF65-F5344CB8AC3E}">
        <p14:creationId xmlns:p14="http://schemas.microsoft.com/office/powerpoint/2010/main" val="2706790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255104" y="1054412"/>
            <a:ext cx="6102626" cy="400110"/>
          </a:xfrm>
          <a:prstGeom prst="rect">
            <a:avLst/>
          </a:prstGeom>
          <a:noFill/>
        </p:spPr>
        <p:txBody>
          <a:bodyPr wrap="square">
            <a:spAutoFit/>
          </a:bodyPr>
          <a:lstStyle/>
          <a:p>
            <a:r>
              <a:rPr lang="en-US" sz="2000" b="1" dirty="0">
                <a:solidFill>
                  <a:srgbClr val="213163"/>
                </a:solidFill>
                <a:latin typeface="+mj-lt"/>
                <a:cs typeface="Times New Roman" panose="02020603050405020304" pitchFamily="18" charset="0"/>
              </a:rPr>
              <a:t>Problem Statement:  </a:t>
            </a:r>
            <a:endParaRPr lang="en-IN" sz="2000" b="1" dirty="0">
              <a:solidFill>
                <a:srgbClr val="213163"/>
              </a:solidFill>
              <a:latin typeface="+mj-lt"/>
              <a:cs typeface="Times New Roman" panose="02020603050405020304" pitchFamily="18" charset="0"/>
            </a:endParaRPr>
          </a:p>
        </p:txBody>
      </p:sp>
      <p:sp>
        <p:nvSpPr>
          <p:cNvPr id="2" name="TextBox 1">
            <a:extLst>
              <a:ext uri="{FF2B5EF4-FFF2-40B4-BE49-F238E27FC236}">
                <a16:creationId xmlns:a16="http://schemas.microsoft.com/office/drawing/2014/main" id="{80BF4342-04C7-D504-B863-01C970695F36}"/>
              </a:ext>
            </a:extLst>
          </p:cNvPr>
          <p:cNvSpPr txBox="1"/>
          <p:nvPr/>
        </p:nvSpPr>
        <p:spPr>
          <a:xfrm>
            <a:off x="522515" y="1670180"/>
            <a:ext cx="10590245" cy="1169551"/>
          </a:xfrm>
          <a:prstGeom prst="rect">
            <a:avLst/>
          </a:prstGeom>
          <a:noFill/>
        </p:spPr>
        <p:txBody>
          <a:bodyPr wrap="square" rtlCol="0">
            <a:spAutoFit/>
          </a:bodyPr>
          <a:lstStyle/>
          <a:p>
            <a:pPr marL="342900" indent="-342900" algn="just">
              <a:buFont typeface="Arial" panose="020B0604020202020204" pitchFamily="34" charset="0"/>
              <a:buChar char="•"/>
            </a:pPr>
            <a:r>
              <a:rPr lang="en-US" sz="1400" dirty="0">
                <a:latin typeface="+mj-lt"/>
                <a:cs typeface="Times New Roman" panose="02020603050405020304" pitchFamily="18" charset="0"/>
              </a:rPr>
              <a:t>Efficient irrigation is essential to avoid water wastage.</a:t>
            </a:r>
          </a:p>
          <a:p>
            <a:pPr marL="342900" indent="-342900" algn="just">
              <a:buFont typeface="Arial" panose="020B0604020202020204" pitchFamily="34" charset="0"/>
              <a:buChar char="•"/>
            </a:pPr>
            <a:endParaRPr lang="en-US" sz="1400" dirty="0">
              <a:latin typeface="+mj-lt"/>
              <a:cs typeface="Times New Roman" panose="02020603050405020304" pitchFamily="18" charset="0"/>
            </a:endParaRPr>
          </a:p>
          <a:p>
            <a:pPr marL="342900" indent="-342900" algn="just">
              <a:buFont typeface="Arial" panose="020B0604020202020204" pitchFamily="34" charset="0"/>
              <a:buChar char="•"/>
            </a:pPr>
            <a:r>
              <a:rPr lang="en-US" sz="1400" dirty="0">
                <a:latin typeface="+mj-lt"/>
                <a:cs typeface="Times New Roman" panose="02020603050405020304" pitchFamily="18" charset="0"/>
              </a:rPr>
              <a:t>Farmers need an automated system to control sprinklers based on sensor data.</a:t>
            </a:r>
          </a:p>
          <a:p>
            <a:pPr marL="342900" indent="-342900" algn="just">
              <a:buFont typeface="Arial" panose="020B0604020202020204" pitchFamily="34" charset="0"/>
              <a:buChar char="•"/>
            </a:pPr>
            <a:endParaRPr lang="en-US" sz="1400" dirty="0">
              <a:latin typeface="+mj-lt"/>
              <a:cs typeface="Times New Roman" panose="02020603050405020304" pitchFamily="18" charset="0"/>
            </a:endParaRPr>
          </a:p>
          <a:p>
            <a:pPr marL="342900" indent="-342900" algn="just">
              <a:buFont typeface="Arial" panose="020B0604020202020204" pitchFamily="34" charset="0"/>
              <a:buChar char="•"/>
            </a:pPr>
            <a:r>
              <a:rPr lang="en-US" sz="1400" dirty="0">
                <a:latin typeface="+mj-lt"/>
                <a:cs typeface="Times New Roman" panose="02020603050405020304" pitchFamily="18" charset="0"/>
              </a:rPr>
              <a:t>A smart irrigation model can optimize water usage and improve crop yield.</a:t>
            </a:r>
            <a:endParaRPr lang="en-IN" sz="1400" dirty="0">
              <a:latin typeface="+mj-lt"/>
              <a:cs typeface="Times New Roman" panose="02020603050405020304" pitchFamily="18" charset="0"/>
            </a:endParaRPr>
          </a:p>
        </p:txBody>
      </p:sp>
    </p:spTree>
    <p:extLst>
      <p:ext uri="{BB962C8B-B14F-4D97-AF65-F5344CB8AC3E}">
        <p14:creationId xmlns:p14="http://schemas.microsoft.com/office/powerpoint/2010/main" val="31965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255104" y="1054412"/>
            <a:ext cx="6102626" cy="400110"/>
          </a:xfrm>
          <a:prstGeom prst="rect">
            <a:avLst/>
          </a:prstGeom>
          <a:noFill/>
        </p:spPr>
        <p:txBody>
          <a:bodyPr wrap="square">
            <a:spAutoFit/>
          </a:bodyPr>
          <a:lstStyle/>
          <a:p>
            <a:r>
              <a:rPr lang="en-US" sz="2000" b="1" dirty="0">
                <a:solidFill>
                  <a:srgbClr val="213163"/>
                </a:solidFill>
                <a:latin typeface="+mj-lt"/>
                <a:cs typeface="Times New Roman" panose="02020603050405020304" pitchFamily="18" charset="0"/>
              </a:rPr>
              <a:t>Solution:  </a:t>
            </a:r>
            <a:endParaRPr lang="en-IN" sz="2000" b="1" dirty="0">
              <a:solidFill>
                <a:srgbClr val="213163"/>
              </a:solidFill>
              <a:latin typeface="+mj-lt"/>
              <a:cs typeface="Times New Roman" panose="02020603050405020304" pitchFamily="18" charset="0"/>
            </a:endParaRPr>
          </a:p>
        </p:txBody>
      </p:sp>
      <p:sp>
        <p:nvSpPr>
          <p:cNvPr id="2" name="TextBox 1">
            <a:extLst>
              <a:ext uri="{FF2B5EF4-FFF2-40B4-BE49-F238E27FC236}">
                <a16:creationId xmlns:a16="http://schemas.microsoft.com/office/drawing/2014/main" id="{9D3C57B0-1509-69AE-036C-2E6648E6ADC5}"/>
              </a:ext>
            </a:extLst>
          </p:cNvPr>
          <p:cNvSpPr txBox="1"/>
          <p:nvPr/>
        </p:nvSpPr>
        <p:spPr>
          <a:xfrm>
            <a:off x="373224" y="1688841"/>
            <a:ext cx="10217021" cy="1077218"/>
          </a:xfrm>
          <a:prstGeom prst="rect">
            <a:avLst/>
          </a:prstGeom>
          <a:noFill/>
        </p:spPr>
        <p:txBody>
          <a:bodyPr wrap="square" rtlCol="0">
            <a:spAutoFit/>
          </a:bodyPr>
          <a:lstStyle/>
          <a:p>
            <a:pPr algn="just"/>
            <a:r>
              <a:rPr lang="en-IN" sz="1400" b="1" dirty="0">
                <a:latin typeface="+mj-lt"/>
                <a:cs typeface="Times New Roman" panose="02020603050405020304" pitchFamily="18" charset="0"/>
              </a:rPr>
              <a:t>GitHub Repository Link</a:t>
            </a:r>
          </a:p>
          <a:p>
            <a:pPr algn="just"/>
            <a:endParaRPr lang="en-IN" sz="1800" b="1" dirty="0">
              <a:latin typeface="Times New Roman" panose="02020603050405020304" pitchFamily="18" charset="0"/>
              <a:cs typeface="Times New Roman" panose="02020603050405020304" pitchFamily="18" charset="0"/>
            </a:endParaRPr>
          </a:p>
          <a:p>
            <a:pPr algn="just"/>
            <a:r>
              <a:rPr lang="en-IN" sz="1400" b="1" dirty="0">
                <a:latin typeface="+mj-lt"/>
                <a:cs typeface="Times New Roman" panose="02020603050405020304" pitchFamily="18" charset="0"/>
                <a:hlinkClick r:id="rId2"/>
              </a:rPr>
              <a:t>https://github.com/keerthibandari167/smart-irrigation-internship</a:t>
            </a:r>
            <a:endParaRPr lang="en-IN" sz="1400" b="1" dirty="0">
              <a:latin typeface="+mj-lt"/>
              <a:cs typeface="Times New Roman" panose="02020603050405020304" pitchFamily="18" charset="0"/>
            </a:endParaRPr>
          </a:p>
          <a:p>
            <a:pPr algn="just"/>
            <a:endParaRPr lang="en-IN"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0296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255104" y="1054412"/>
            <a:ext cx="6102626" cy="461665"/>
          </a:xfrm>
          <a:prstGeom prst="rect">
            <a:avLst/>
          </a:prstGeom>
          <a:noFill/>
        </p:spPr>
        <p:txBody>
          <a:bodyPr wrap="square">
            <a:spAutoFit/>
          </a:bodyPr>
          <a:lstStyle/>
          <a:p>
            <a:r>
              <a:rPr lang="en-US" sz="2400" b="1" dirty="0">
                <a:solidFill>
                  <a:srgbClr val="213163"/>
                </a:solidFill>
                <a:latin typeface="Times New Roman" panose="02020603050405020304" pitchFamily="18" charset="0"/>
                <a:cs typeface="Times New Roman" panose="02020603050405020304" pitchFamily="18" charset="0"/>
              </a:rPr>
              <a:t>Screenshot of Output:  </a:t>
            </a:r>
            <a:endParaRPr lang="en-IN" sz="2400" b="1" dirty="0">
              <a:solidFill>
                <a:srgbClr val="213163"/>
              </a:solidFill>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F988ECC4-28F2-9059-B4FC-A6335BC227EA}"/>
              </a:ext>
            </a:extLst>
          </p:cNvPr>
          <p:cNvPicPr>
            <a:picLocks noChangeAspect="1"/>
          </p:cNvPicPr>
          <p:nvPr/>
        </p:nvPicPr>
        <p:blipFill>
          <a:blip r:embed="rId2"/>
          <a:stretch>
            <a:fillRect/>
          </a:stretch>
        </p:blipFill>
        <p:spPr>
          <a:xfrm>
            <a:off x="255104" y="1726162"/>
            <a:ext cx="11010124" cy="4905303"/>
          </a:xfrm>
          <a:prstGeom prst="rect">
            <a:avLst/>
          </a:prstGeom>
        </p:spPr>
      </p:pic>
    </p:spTree>
    <p:extLst>
      <p:ext uri="{BB962C8B-B14F-4D97-AF65-F5344CB8AC3E}">
        <p14:creationId xmlns:p14="http://schemas.microsoft.com/office/powerpoint/2010/main" val="1635949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149087" y="988151"/>
            <a:ext cx="6102626" cy="400110"/>
          </a:xfrm>
          <a:prstGeom prst="rect">
            <a:avLst/>
          </a:prstGeom>
          <a:noFill/>
        </p:spPr>
        <p:txBody>
          <a:bodyPr wrap="square">
            <a:spAutoFit/>
          </a:bodyPr>
          <a:lstStyle/>
          <a:p>
            <a:r>
              <a:rPr lang="en-US" sz="2000" b="1" dirty="0">
                <a:solidFill>
                  <a:srgbClr val="213163"/>
                </a:solidFill>
                <a:latin typeface="+mj-lt"/>
                <a:cs typeface="Times New Roman" panose="02020603050405020304" pitchFamily="18" charset="0"/>
              </a:rPr>
              <a:t>Conclusion:  </a:t>
            </a:r>
            <a:endParaRPr lang="en-IN" sz="2000" dirty="0">
              <a:solidFill>
                <a:srgbClr val="213163"/>
              </a:solidFill>
              <a:latin typeface="+mj-lt"/>
              <a:cs typeface="Times New Roman" panose="02020603050405020304" pitchFamily="18" charset="0"/>
            </a:endParaRPr>
          </a:p>
        </p:txBody>
      </p:sp>
      <p:sp>
        <p:nvSpPr>
          <p:cNvPr id="2" name="TextBox 1">
            <a:extLst>
              <a:ext uri="{FF2B5EF4-FFF2-40B4-BE49-F238E27FC236}">
                <a16:creationId xmlns:a16="http://schemas.microsoft.com/office/drawing/2014/main" id="{D0BCBBE4-EC2E-5F6C-D495-BF55BB3216C1}"/>
              </a:ext>
            </a:extLst>
          </p:cNvPr>
          <p:cNvSpPr txBox="1"/>
          <p:nvPr/>
        </p:nvSpPr>
        <p:spPr>
          <a:xfrm>
            <a:off x="391886" y="1780145"/>
            <a:ext cx="10291665" cy="738664"/>
          </a:xfrm>
          <a:prstGeom prst="rect">
            <a:avLst/>
          </a:prstGeom>
          <a:noFill/>
        </p:spPr>
        <p:txBody>
          <a:bodyPr wrap="square" rtlCol="0">
            <a:spAutoFit/>
          </a:bodyPr>
          <a:lstStyle/>
          <a:p>
            <a:pPr algn="just"/>
            <a:r>
              <a:rPr lang="en-US" sz="1400" dirty="0">
                <a:latin typeface="+mj-lt"/>
                <a:cs typeface="Times New Roman" panose="02020603050405020304" pitchFamily="18" charset="0"/>
              </a:rPr>
              <a:t>The Smart Irrigation System successfully predicts sprinkler activation based on sensor data, ensuring water is supplied only when needed. This approach helps in conserving water, improving crop health, and reducing manual intervention, making irrigation more efficient and sustainable.</a:t>
            </a:r>
            <a:endParaRPr lang="en-IN" sz="1400" dirty="0">
              <a:latin typeface="+mj-lt"/>
              <a:cs typeface="Times New Roman" panose="02020603050405020304" pitchFamily="18" charset="0"/>
            </a:endParaRPr>
          </a:p>
        </p:txBody>
      </p:sp>
    </p:spTree>
    <p:extLst>
      <p:ext uri="{BB962C8B-B14F-4D97-AF65-F5344CB8AC3E}">
        <p14:creationId xmlns:p14="http://schemas.microsoft.com/office/powerpoint/2010/main" val="1519883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80FB46-A4F1-B147-5B88-C1DE63A88F68}"/>
              </a:ext>
            </a:extLst>
          </p:cNvPr>
          <p:cNvSpPr txBox="1"/>
          <p:nvPr/>
        </p:nvSpPr>
        <p:spPr>
          <a:xfrm>
            <a:off x="4943669" y="3167390"/>
            <a:ext cx="2304662" cy="523220"/>
          </a:xfrm>
          <a:prstGeom prst="rect">
            <a:avLst/>
          </a:prstGeom>
          <a:noFill/>
        </p:spPr>
        <p:txBody>
          <a:bodyPr wrap="square" rtlCol="0">
            <a:spAutoFit/>
          </a:bodyPr>
          <a:lstStyle/>
          <a:p>
            <a:r>
              <a:rPr lang="en-US" sz="2800" b="1" dirty="0">
                <a:solidFill>
                  <a:srgbClr val="002060"/>
                </a:solidFill>
              </a:rPr>
              <a:t>THANK YOU</a:t>
            </a:r>
            <a:endParaRPr lang="en-IN" sz="2800" b="1" dirty="0">
              <a:solidFill>
                <a:srgbClr val="002060"/>
              </a:solidFill>
            </a:endParaRPr>
          </a:p>
        </p:txBody>
      </p:sp>
    </p:spTree>
    <p:extLst>
      <p:ext uri="{BB962C8B-B14F-4D97-AF65-F5344CB8AC3E}">
        <p14:creationId xmlns:p14="http://schemas.microsoft.com/office/powerpoint/2010/main" val="977319448"/>
      </p:ext>
    </p:extLst>
  </p:cSld>
  <p:clrMapOvr>
    <a:masterClrMapping/>
  </p:clrMapOvr>
</p:sld>
</file>

<file path=ppt/theme/theme1.xml><?xml version="1.0" encoding="utf-8"?>
<a:theme xmlns:a="http://schemas.openxmlformats.org/drawingml/2006/main" name="Session 01 Design Thinking &amp; Critical Thinking">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ession 01 Design Thinking &amp; Critical Thinking" id="{1DE73F69-F87A-4ED3-81C1-82D2BA622E0C}" vid="{37568650-F724-47C7-905E-9640F8017497}"/>
    </a:ext>
  </a:extLst>
</a:theme>
</file>

<file path=docProps/app.xml><?xml version="1.0" encoding="utf-8"?>
<Properties xmlns="http://schemas.openxmlformats.org/officeDocument/2006/extended-properties" xmlns:vt="http://schemas.openxmlformats.org/officeDocument/2006/docPropsVTypes">
  <Template>Session 01 Design Thinking &amp; Critical Thinking</Template>
  <TotalTime>149</TotalTime>
  <Words>277</Words>
  <Application>Microsoft Office PowerPoint</Application>
  <PresentationFormat>Widescreen</PresentationFormat>
  <Paragraphs>50</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Times New Roman</vt:lpstr>
      <vt:lpstr>Session 01 Design Thinking &amp; Critical Thinking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Mahesh Kurhe</dc:creator>
  <cp:lastModifiedBy>Keerthi Bandari</cp:lastModifiedBy>
  <cp:revision>9</cp:revision>
  <dcterms:created xsi:type="dcterms:W3CDTF">2024-12-31T09:40:01Z</dcterms:created>
  <dcterms:modified xsi:type="dcterms:W3CDTF">2025-08-01T13:01:42Z</dcterms:modified>
</cp:coreProperties>
</file>